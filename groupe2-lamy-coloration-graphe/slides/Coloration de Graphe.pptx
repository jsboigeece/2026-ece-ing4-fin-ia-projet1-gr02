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233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47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2113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885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0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38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5964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21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358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70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0024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2481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056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1844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491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182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AB54C-1B68-49C2-BC39-24FAC111BC69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0465CE1-5BBB-4EA1-A556-3A57085026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990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941516-6645-E5A5-F1D6-B1CD216524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Coloration de Graphe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7FC84C-AE5F-F934-0894-473534239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Robin LAMY – Groupe 2</a:t>
            </a:r>
          </a:p>
        </p:txBody>
      </p:sp>
      <p:pic>
        <p:nvPicPr>
          <p:cNvPr id="6" name="Image 5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F01F2800-8562-4B84-557D-434858C91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5352" y="-80387"/>
            <a:ext cx="3296648" cy="170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99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A0095D-DD43-3525-A75A-CAC46C06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261CC3-1908-6CBF-B509-811433F3C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958" y="2052484"/>
            <a:ext cx="7377855" cy="3777622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L’objectif est d’attribuer une couleur à chaque nœud d’un graphe (ex : régions d’une carte) de manière à respecter la contrainte suivante : deux nœuds reliés par une arête (donc adjacents) ne doivent jamais avoir la même couleur.</a:t>
            </a:r>
          </a:p>
          <a:p>
            <a:endParaRPr lang="fr-FR" dirty="0"/>
          </a:p>
          <a:p>
            <a:r>
              <a:rPr lang="fr-FR" dirty="0"/>
              <a:t>Modélise beaucoup de situations réelles où des conflits doivent être évités</a:t>
            </a:r>
          </a:p>
          <a:p>
            <a:pPr lvl="1"/>
            <a:r>
              <a:rPr lang="fr-FR" dirty="0"/>
              <a:t>Cartes</a:t>
            </a:r>
          </a:p>
          <a:p>
            <a:pPr lvl="1"/>
            <a:r>
              <a:rPr lang="fr-FR" dirty="0"/>
              <a:t>Planning</a:t>
            </a:r>
          </a:p>
          <a:p>
            <a:pPr lvl="1"/>
            <a:r>
              <a:rPr lang="fr-FR" dirty="0"/>
              <a:t>Allocation de ressources</a:t>
            </a:r>
          </a:p>
          <a:p>
            <a:endParaRPr lang="fr-FR" dirty="0"/>
          </a:p>
          <a:p>
            <a:r>
              <a:rPr lang="fr-FR" dirty="0"/>
              <a:t>Théorème : 4 couleurs suffisent pour n’importe quelle carte.</a:t>
            </a:r>
          </a:p>
          <a:p>
            <a:endParaRPr lang="fr-FR" dirty="0"/>
          </a:p>
        </p:txBody>
      </p:sp>
      <p:pic>
        <p:nvPicPr>
          <p:cNvPr id="5" name="Image 4" descr="Une image contenant cercle, ligne, croquis, blanc&#10;&#10;Le contenu généré par l’IA peut être incorrect.">
            <a:extLst>
              <a:ext uri="{FF2B5EF4-FFF2-40B4-BE49-F238E27FC236}">
                <a16:creationId xmlns:a16="http://schemas.microsoft.com/office/drawing/2014/main" id="{C4FFF0A5-7BD9-376E-653C-4F4EA8F06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174" y="1588158"/>
            <a:ext cx="2055502" cy="1929333"/>
          </a:xfrm>
          <a:prstGeom prst="rect">
            <a:avLst/>
          </a:prstGeom>
        </p:spPr>
      </p:pic>
      <p:pic>
        <p:nvPicPr>
          <p:cNvPr id="7" name="Image 6" descr="Une image contenant cercle, ligne, art&#10;&#10;Le contenu généré par l’IA peut être incorrect.">
            <a:extLst>
              <a:ext uri="{FF2B5EF4-FFF2-40B4-BE49-F238E27FC236}">
                <a16:creationId xmlns:a16="http://schemas.microsoft.com/office/drawing/2014/main" id="{95AB2B01-AB08-C87E-60CD-8AACA49BE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174" y="4332274"/>
            <a:ext cx="2035605" cy="1901616"/>
          </a:xfrm>
          <a:prstGeom prst="rect">
            <a:avLst/>
          </a:prstGeom>
        </p:spPr>
      </p:pic>
      <p:pic>
        <p:nvPicPr>
          <p:cNvPr id="1026" name="Picture 2" descr="Flèche vers le bas - Icônes flèches gratuites">
            <a:extLst>
              <a:ext uri="{FF2B5EF4-FFF2-40B4-BE49-F238E27FC236}">
                <a16:creationId xmlns:a16="http://schemas.microsoft.com/office/drawing/2014/main" id="{626803D1-D0BE-F25C-0380-DBF50DDED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90736" y="3649055"/>
            <a:ext cx="584479" cy="584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36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C2BEC1-5572-92B3-6676-2A651F20A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 CSP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392C17-E5C5-4050-2B85-2CF2D25C6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0116" y="2015613"/>
            <a:ext cx="8915400" cy="3777622"/>
          </a:xfrm>
        </p:spPr>
        <p:txBody>
          <a:bodyPr/>
          <a:lstStyle/>
          <a:p>
            <a:r>
              <a:rPr lang="fr-FR" b="1" dirty="0" err="1"/>
              <a:t>Constraint</a:t>
            </a:r>
            <a:r>
              <a:rPr lang="fr-FR" b="1" dirty="0"/>
              <a:t> Satisfaction </a:t>
            </a:r>
            <a:r>
              <a:rPr lang="fr-FR" b="1" dirty="0" err="1"/>
              <a:t>Problem</a:t>
            </a:r>
            <a:r>
              <a:rPr lang="fr-FR" dirty="0"/>
              <a:t> : problème où on cherche des valeurs pour des variables en respectant des contraintes.</a:t>
            </a:r>
          </a:p>
          <a:p>
            <a:endParaRPr lang="fr-FR" dirty="0"/>
          </a:p>
          <a:p>
            <a:r>
              <a:rPr lang="fr-FR" b="1" dirty="0"/>
              <a:t>Variables : </a:t>
            </a:r>
            <a:r>
              <a:rPr lang="fr-FR" dirty="0"/>
              <a:t>pour chaque nœud v : </a:t>
            </a:r>
          </a:p>
          <a:p>
            <a:pPr lvl="1"/>
            <a:r>
              <a:rPr lang="fr-FR" dirty="0"/>
              <a:t>Variable c[v] allant de 0 à K-1 </a:t>
            </a:r>
          </a:p>
          <a:p>
            <a:pPr lvl="1"/>
            <a:r>
              <a:rPr lang="fr-FR" dirty="0"/>
              <a:t>K le nombre de couleurs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b="1" dirty="0"/>
              <a:t>Contrainte : </a:t>
            </a:r>
            <a:r>
              <a:rPr lang="fr-FR" dirty="0"/>
              <a:t>pour chaque arête (</a:t>
            </a:r>
            <a:r>
              <a:rPr lang="fr-FR" dirty="0" err="1"/>
              <a:t>u,v</a:t>
            </a:r>
            <a:r>
              <a:rPr lang="fr-FR" dirty="0"/>
              <a:t>), u étant les nœuds adjacents</a:t>
            </a:r>
            <a:r>
              <a:rPr lang="fr-FR" b="1" dirty="0"/>
              <a:t> :</a:t>
            </a:r>
          </a:p>
          <a:p>
            <a:pPr lvl="1"/>
            <a:r>
              <a:rPr lang="fr-FR" dirty="0"/>
              <a:t>c[u] =! c[v]</a:t>
            </a:r>
          </a:p>
        </p:txBody>
      </p:sp>
    </p:spTree>
    <p:extLst>
      <p:ext uri="{BB962C8B-B14F-4D97-AF65-F5344CB8AC3E}">
        <p14:creationId xmlns:p14="http://schemas.microsoft.com/office/powerpoint/2010/main" val="1123655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21504F-3B0F-1734-23A1-6AB3E912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OR-Tools / CP-SAT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311251-EF2F-2D36-921A-F612C36C9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600" y="2202426"/>
            <a:ext cx="8915400" cy="4178710"/>
          </a:xfrm>
        </p:spPr>
        <p:txBody>
          <a:bodyPr>
            <a:normAutofit/>
          </a:bodyPr>
          <a:lstStyle/>
          <a:p>
            <a:r>
              <a:rPr lang="fr-FR" b="1" dirty="0"/>
              <a:t>OR-Tools : bibliothèque pour l’optimisation combinatoire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Utilisation du solveur CP-SAT : </a:t>
            </a:r>
          </a:p>
          <a:p>
            <a:pPr lvl="1"/>
            <a:r>
              <a:rPr lang="fr-FR" dirty="0"/>
              <a:t>Description du modèle dans un </a:t>
            </a:r>
            <a:r>
              <a:rPr lang="fr-FR" dirty="0" err="1"/>
              <a:t>CpModel</a:t>
            </a:r>
            <a:endParaRPr lang="fr-FR" dirty="0"/>
          </a:p>
          <a:p>
            <a:pPr lvl="1"/>
            <a:r>
              <a:rPr lang="fr-FR" dirty="0"/>
              <a:t>Le solveur explore les solutions avec propagation + recherche</a:t>
            </a:r>
          </a:p>
          <a:p>
            <a:pPr lvl="1"/>
            <a:r>
              <a:rPr lang="fr-FR" dirty="0"/>
              <a:t>Retourne un statut : </a:t>
            </a:r>
            <a:r>
              <a:rPr lang="fr-FR" dirty="0" err="1"/>
              <a:t>Feasible</a:t>
            </a:r>
            <a:r>
              <a:rPr lang="fr-FR" dirty="0"/>
              <a:t> / </a:t>
            </a:r>
            <a:r>
              <a:rPr lang="fr-FR" dirty="0" err="1"/>
              <a:t>Infeasible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Minimisation du nombre de couleurs : </a:t>
            </a:r>
          </a:p>
          <a:p>
            <a:pPr lvl="1"/>
            <a:r>
              <a:rPr lang="en-US" dirty="0">
                <a:solidFill>
                  <a:srgbClr val="1A1A1A"/>
                </a:solidFill>
              </a:rPr>
              <a:t>Tester K = 1,2,3… </a:t>
            </a:r>
            <a:r>
              <a:rPr lang="en-US" dirty="0" err="1">
                <a:solidFill>
                  <a:srgbClr val="1A1A1A"/>
                </a:solidFill>
              </a:rPr>
              <a:t>jusqu’à</a:t>
            </a:r>
            <a:r>
              <a:rPr lang="en-US" dirty="0">
                <a:solidFill>
                  <a:srgbClr val="1A1A1A"/>
                </a:solidFill>
              </a:rPr>
              <a:t> </a:t>
            </a:r>
            <a:r>
              <a:rPr lang="en-US" dirty="0" err="1">
                <a:solidFill>
                  <a:srgbClr val="1A1A1A"/>
                </a:solidFill>
              </a:rPr>
              <a:t>trouver</a:t>
            </a:r>
            <a:r>
              <a:rPr lang="en-US" dirty="0">
                <a:solidFill>
                  <a:srgbClr val="1A1A1A"/>
                </a:solidFill>
              </a:rPr>
              <a:t> le premier K </a:t>
            </a:r>
            <a:r>
              <a:rPr lang="en-US" dirty="0" err="1">
                <a:solidFill>
                  <a:srgbClr val="1A1A1A"/>
                </a:solidFill>
              </a:rPr>
              <a:t>faisable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320260-CB01-B742-E685-ECF6806698E5}"/>
              </a:ext>
            </a:extLst>
          </p:cNvPr>
          <p:cNvSpPr txBox="1"/>
          <p:nvPr/>
        </p:nvSpPr>
        <p:spPr>
          <a:xfrm>
            <a:off x="1632155" y="2477729"/>
            <a:ext cx="2772697" cy="2172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6" name="Image 5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18762242-D664-CAA3-09D2-E5F8F0743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39" y="3019780"/>
            <a:ext cx="4521123" cy="14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05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155C1-E897-F990-7E33-DCD63426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Datasets</a:t>
            </a:r>
            <a:r>
              <a:rPr lang="fr-FR" dirty="0"/>
              <a:t> utilisés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7A2F75-043D-3F71-6479-9F303E79B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218" y="1995948"/>
            <a:ext cx="8481911" cy="3696929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Format : .txt en forme de liste d’adjacence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Exemple :</a:t>
            </a:r>
          </a:p>
          <a:p>
            <a:pPr marL="0" indent="0">
              <a:buNone/>
            </a:pPr>
            <a:endParaRPr lang="fr-FR" b="1" dirty="0"/>
          </a:p>
        </p:txBody>
      </p:sp>
      <p:pic>
        <p:nvPicPr>
          <p:cNvPr id="5" name="Image 4" descr="Une image contenant Police, texte, typographi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5198D4D-555E-9531-8ADA-92184CFE0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871" y="2636531"/>
            <a:ext cx="1619476" cy="704948"/>
          </a:xfrm>
          <a:prstGeom prst="rect">
            <a:avLst/>
          </a:prstGeom>
        </p:spPr>
      </p:pic>
      <p:pic>
        <p:nvPicPr>
          <p:cNvPr id="2050" name="Picture 2" descr="Etats-Unis Capitales Carte États - Images vectorielles gratuites sur Pixabay">
            <a:extLst>
              <a:ext uri="{FF2B5EF4-FFF2-40B4-BE49-F238E27FC236}">
                <a16:creationId xmlns:a16="http://schemas.microsoft.com/office/drawing/2014/main" id="{20BA6421-6F78-91F0-46FB-F28B2B998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858" y="3844412"/>
            <a:ext cx="2915418" cy="170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épartement français — Wikipédia">
            <a:extLst>
              <a:ext uri="{FF2B5EF4-FFF2-40B4-BE49-F238E27FC236}">
                <a16:creationId xmlns:a16="http://schemas.microsoft.com/office/drawing/2014/main" id="{9ABC55B2-399E-4072-E897-CB1CB67A5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742" y="3522642"/>
            <a:ext cx="2130984" cy="202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0189CEE-2038-EAB7-A13B-C1E3A157A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864" y="3394347"/>
            <a:ext cx="2487934" cy="238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BBF9BDB-10C9-D2B7-ACFA-BCABA2EBEAD6}"/>
              </a:ext>
            </a:extLst>
          </p:cNvPr>
          <p:cNvSpPr txBox="1"/>
          <p:nvPr/>
        </p:nvSpPr>
        <p:spPr>
          <a:xfrm>
            <a:off x="1376624" y="5858189"/>
            <a:ext cx="10549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A1A1A"/>
                </a:solidFill>
              </a:rPr>
              <a:t>50 </a:t>
            </a:r>
            <a:r>
              <a:rPr lang="en-US" dirty="0" err="1">
                <a:solidFill>
                  <a:srgbClr val="1A1A1A"/>
                </a:solidFill>
              </a:rPr>
              <a:t>nœuds</a:t>
            </a:r>
            <a:r>
              <a:rPr lang="en-US" dirty="0">
                <a:solidFill>
                  <a:srgbClr val="1A1A1A"/>
                </a:solidFill>
              </a:rPr>
              <a:t>, 107 arêtes                            99 </a:t>
            </a:r>
            <a:r>
              <a:rPr lang="en-US" dirty="0" err="1">
                <a:solidFill>
                  <a:srgbClr val="1A1A1A"/>
                </a:solidFill>
              </a:rPr>
              <a:t>noeuds</a:t>
            </a:r>
            <a:r>
              <a:rPr lang="en-US" dirty="0">
                <a:solidFill>
                  <a:srgbClr val="1A1A1A"/>
                </a:solidFill>
              </a:rPr>
              <a:t>, 185 arêtes                    18 </a:t>
            </a:r>
            <a:r>
              <a:rPr lang="en-US" dirty="0" err="1">
                <a:solidFill>
                  <a:srgbClr val="1A1A1A"/>
                </a:solidFill>
              </a:rPr>
              <a:t>noeuds</a:t>
            </a:r>
            <a:r>
              <a:rPr lang="en-US" dirty="0">
                <a:solidFill>
                  <a:srgbClr val="1A1A1A"/>
                </a:solidFill>
              </a:rPr>
              <a:t>, 22 arêtes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084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C403C-095B-20A6-F34C-90A487F6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Affichage du graphe coloré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0B2EB4-6DC5-25B7-01C4-C1696120A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NetworkX</a:t>
            </a:r>
            <a:r>
              <a:rPr lang="fr-FR" dirty="0"/>
              <a:t> + </a:t>
            </a:r>
            <a:r>
              <a:rPr lang="fr-FR" dirty="0" err="1"/>
              <a:t>Matplotlib</a:t>
            </a:r>
            <a:endParaRPr lang="fr-FR" dirty="0"/>
          </a:p>
        </p:txBody>
      </p:sp>
      <p:pic>
        <p:nvPicPr>
          <p:cNvPr id="5" name="Image 4" descr="Une image contenant cercle, collier&#10;&#10;Le contenu généré par l’IA peut être incorrect.">
            <a:extLst>
              <a:ext uri="{FF2B5EF4-FFF2-40B4-BE49-F238E27FC236}">
                <a16:creationId xmlns:a16="http://schemas.microsoft.com/office/drawing/2014/main" id="{0C1FBEB7-E532-11C7-D1EA-3E7F5382E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503" y="1905000"/>
            <a:ext cx="5254537" cy="279387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E1CB49C-F439-F75E-9C70-0B99E36AAF8A}"/>
              </a:ext>
            </a:extLst>
          </p:cNvPr>
          <p:cNvSpPr txBox="1"/>
          <p:nvPr/>
        </p:nvSpPr>
        <p:spPr>
          <a:xfrm>
            <a:off x="6647360" y="4803112"/>
            <a:ext cx="4742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Exemple : graphe en cycle généré avec n=11</a:t>
            </a:r>
          </a:p>
        </p:txBody>
      </p:sp>
    </p:spTree>
    <p:extLst>
      <p:ext uri="{BB962C8B-B14F-4D97-AF65-F5344CB8AC3E}">
        <p14:creationId xmlns:p14="http://schemas.microsoft.com/office/powerpoint/2010/main" val="2962606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3EC0AF-6611-44BB-6CD6-78743531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344" y="600945"/>
            <a:ext cx="5938125" cy="5656110"/>
          </a:xfrm>
        </p:spPr>
        <p:txBody>
          <a:bodyPr/>
          <a:lstStyle/>
          <a:p>
            <a:r>
              <a:rPr lang="fr-FR" dirty="0"/>
              <a:t>Architecture Fonctionnelle</a:t>
            </a:r>
          </a:p>
        </p:txBody>
      </p:sp>
      <p:pic>
        <p:nvPicPr>
          <p:cNvPr id="5" name="Espace réservé du contenu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507A4997-801C-01CA-5784-54423DDA4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137" y="108452"/>
            <a:ext cx="3848519" cy="6641096"/>
          </a:xfrm>
        </p:spPr>
      </p:pic>
    </p:spTree>
    <p:extLst>
      <p:ext uri="{BB962C8B-B14F-4D97-AF65-F5344CB8AC3E}">
        <p14:creationId xmlns:p14="http://schemas.microsoft.com/office/powerpoint/2010/main" val="3524369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EC1312-8AAD-D391-B9BD-C3199C97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: </a:t>
            </a:r>
            <a:r>
              <a:rPr lang="fr-FR" dirty="0" err="1"/>
              <a:t>dataset</a:t>
            </a:r>
            <a:r>
              <a:rPr lang="fr-FR" dirty="0"/>
              <a:t> régions de France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9AA92C-C924-0B88-6D47-2DB1E14D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cercle, diagramme, ligne&#10;&#10;Le contenu généré par l’IA peut être incorrect.">
            <a:extLst>
              <a:ext uri="{FF2B5EF4-FFF2-40B4-BE49-F238E27FC236}">
                <a16:creationId xmlns:a16="http://schemas.microsoft.com/office/drawing/2014/main" id="{102A76A7-0C73-0310-00AC-5A591469A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965" y="1589319"/>
            <a:ext cx="9073115" cy="4644571"/>
          </a:xfrm>
          <a:prstGeom prst="rect">
            <a:avLst/>
          </a:prstGeom>
        </p:spPr>
      </p:pic>
      <p:pic>
        <p:nvPicPr>
          <p:cNvPr id="7" name="Image 6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AF4FBB3B-38A0-2BE4-5D87-93129D64C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50" y="2870209"/>
            <a:ext cx="3115110" cy="1714739"/>
          </a:xfrm>
          <a:prstGeom prst="rect">
            <a:avLst/>
          </a:prstGeom>
        </p:spPr>
      </p:pic>
      <p:pic>
        <p:nvPicPr>
          <p:cNvPr id="11" name="Image 10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DD598354-A4C4-AEE2-735F-DE4EC51FC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88" y="5091958"/>
            <a:ext cx="2962688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65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588149-EA92-5C34-1C95-3C1B58FC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: </a:t>
            </a:r>
            <a:r>
              <a:rPr lang="fr-FR" dirty="0" err="1"/>
              <a:t>dataset</a:t>
            </a:r>
            <a:r>
              <a:rPr lang="fr-FR" dirty="0"/>
              <a:t> états des USA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E2359D-DFE6-916C-4365-25AC0536E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91404073-CDCC-4D99-9662-D5B92EB82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218" y="1448637"/>
            <a:ext cx="8961912" cy="5147547"/>
          </a:xfrm>
          <a:prstGeom prst="rect">
            <a:avLst/>
          </a:prstGeom>
        </p:spPr>
      </p:pic>
      <p:pic>
        <p:nvPicPr>
          <p:cNvPr id="9" name="Image 8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8EC730B-AF14-3943-4633-1E325851F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" y="4181842"/>
            <a:ext cx="3867192" cy="229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78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B42640-1DA3-083C-43AF-5E6A21E2F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822" y="633942"/>
            <a:ext cx="9599075" cy="1280890"/>
          </a:xfrm>
        </p:spPr>
        <p:txBody>
          <a:bodyPr/>
          <a:lstStyle/>
          <a:p>
            <a:r>
              <a:rPr lang="fr-FR" dirty="0"/>
              <a:t>Résultats : </a:t>
            </a:r>
            <a:r>
              <a:rPr lang="fr-FR" dirty="0" err="1"/>
              <a:t>dataset</a:t>
            </a:r>
            <a:r>
              <a:rPr lang="fr-FR" dirty="0"/>
              <a:t> départements Français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49DAE5-2804-367A-D9ED-9B9C44026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Caractère coloré&#10;&#10;Le contenu généré par l’IA peut être incorrect.">
            <a:extLst>
              <a:ext uri="{FF2B5EF4-FFF2-40B4-BE49-F238E27FC236}">
                <a16:creationId xmlns:a16="http://schemas.microsoft.com/office/drawing/2014/main" id="{21684406-AAD5-EB67-08BA-B75164BC3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515158"/>
            <a:ext cx="9455441" cy="4532183"/>
          </a:xfrm>
          <a:prstGeom prst="rect">
            <a:avLst/>
          </a:prstGeom>
        </p:spPr>
      </p:pic>
      <p:pic>
        <p:nvPicPr>
          <p:cNvPr id="7" name="Image 6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34BA7309-600E-B16E-CAA2-98A269FFE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09" y="4824451"/>
            <a:ext cx="3172268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1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E289FB-45DA-A239-5031-33A12A192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Résultats : génération de graphe cycle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85EC5E-6AFA-68B6-79AF-B1261BFF7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99" y="2133600"/>
            <a:ext cx="8915400" cy="3777622"/>
          </a:xfrm>
        </p:spPr>
        <p:txBody>
          <a:bodyPr/>
          <a:lstStyle/>
          <a:p>
            <a:r>
              <a:rPr lang="fr-FR" dirty="0"/>
              <a:t>Si n est pair, alors K = 2</a:t>
            </a:r>
          </a:p>
          <a:p>
            <a:r>
              <a:rPr lang="fr-FR" dirty="0"/>
              <a:t>Si n est impair, alors K = 3</a:t>
            </a:r>
          </a:p>
        </p:txBody>
      </p:sp>
      <p:pic>
        <p:nvPicPr>
          <p:cNvPr id="5" name="Image 4" descr="Une image contenant cercle, collier&#10;&#10;Le contenu généré par l’IA peut être incorrect.">
            <a:extLst>
              <a:ext uri="{FF2B5EF4-FFF2-40B4-BE49-F238E27FC236}">
                <a16:creationId xmlns:a16="http://schemas.microsoft.com/office/drawing/2014/main" id="{28FAEEE1-5E73-973C-23A2-A61C5474B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381" y="2133600"/>
            <a:ext cx="6380423" cy="3667671"/>
          </a:xfrm>
          <a:prstGeom prst="rect">
            <a:avLst/>
          </a:prstGeom>
        </p:spPr>
      </p:pic>
      <p:pic>
        <p:nvPicPr>
          <p:cNvPr id="7" name="Image 6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759F7C1-25F2-8731-D323-B694302A9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08" y="3790454"/>
            <a:ext cx="3172268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70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7F4DFF-23F3-5335-EFB1-2DA5FB219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5D493A-B615-4D8F-9FF4-DFE8F1A46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Théorème vérifié : 4 couleurs suffisent pour n’importe quel graphe</a:t>
            </a:r>
          </a:p>
          <a:p>
            <a:r>
              <a:rPr lang="fr-FR" dirty="0"/>
              <a:t>Améliorations possibles : prendre en compte la position géographique des régions d’une carte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9841177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TM02892315[[fn=Brin]]</Template>
  <TotalTime>973</TotalTime>
  <Words>313</Words>
  <Application>Microsoft Office PowerPoint</Application>
  <PresentationFormat>Grand écran</PresentationFormat>
  <Paragraphs>48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Brin</vt:lpstr>
      <vt:lpstr>Coloration de Graphe</vt:lpstr>
      <vt:lpstr>Définition du problème</vt:lpstr>
      <vt:lpstr>Modélisation CSP</vt:lpstr>
      <vt:lpstr>OR-Tools / CP-SAT</vt:lpstr>
      <vt:lpstr>Datasets utilisés</vt:lpstr>
      <vt:lpstr>Affichage du graphe coloré</vt:lpstr>
      <vt:lpstr>Architecture Fonctionnelle</vt:lpstr>
      <vt:lpstr>Résultats : dataset régions de France</vt:lpstr>
      <vt:lpstr>Résultats : dataset états des USA</vt:lpstr>
      <vt:lpstr>Résultats : dataset départements Français</vt:lpstr>
      <vt:lpstr>Résultats : génération de graphe cycle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Lamy</dc:creator>
  <cp:lastModifiedBy>Robin Lamy</cp:lastModifiedBy>
  <cp:revision>4</cp:revision>
  <dcterms:created xsi:type="dcterms:W3CDTF">2026-02-01T16:46:27Z</dcterms:created>
  <dcterms:modified xsi:type="dcterms:W3CDTF">2026-02-02T21:22:58Z</dcterms:modified>
</cp:coreProperties>
</file>